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4" r:id="rId3"/>
    <p:sldId id="291" r:id="rId4"/>
    <p:sldId id="260" r:id="rId5"/>
    <p:sldId id="301" r:id="rId6"/>
    <p:sldId id="299" r:id="rId7"/>
    <p:sldId id="265" r:id="rId8"/>
    <p:sldId id="302" r:id="rId9"/>
    <p:sldId id="303" r:id="rId10"/>
    <p:sldId id="263" r:id="rId11"/>
    <p:sldId id="304" r:id="rId12"/>
    <p:sldId id="296" r:id="rId13"/>
    <p:sldId id="306" r:id="rId14"/>
    <p:sldId id="294" r:id="rId15"/>
    <p:sldId id="297" r:id="rId16"/>
    <p:sldId id="307" r:id="rId17"/>
    <p:sldId id="308" r:id="rId18"/>
    <p:sldId id="298" r:id="rId19"/>
    <p:sldId id="300" r:id="rId20"/>
    <p:sldId id="259" r:id="rId21"/>
  </p:sldIdLst>
  <p:sldSz cx="12192000" cy="6858000"/>
  <p:notesSz cx="6858000" cy="9144000"/>
  <p:embeddedFontLst>
    <p:embeddedFont>
      <p:font typeface="Arial Rounded MT Bold" panose="020F0704030504030204" pitchFamily="34" charset="0"/>
      <p:regular r:id="rId23"/>
    </p:embeddedFont>
    <p:embeddedFont>
      <p:font typeface="Libre Baskerville" panose="02000000000000000000" pitchFamily="2" charset="0"/>
      <p:regular r:id="rId24"/>
      <p:bold r:id="rId25"/>
      <p: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C7A9"/>
    <a:srgbClr val="D4FECE"/>
    <a:srgbClr val="CCFF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653" autoAdjust="0"/>
    <p:restoredTop sz="91634" autoAdjust="0"/>
  </p:normalViewPr>
  <p:slideViewPr>
    <p:cSldViewPr snapToGrid="0">
      <p:cViewPr varScale="1">
        <p:scale>
          <a:sx n="82" d="100"/>
          <a:sy n="82" d="100"/>
        </p:scale>
        <p:origin x="230" y="72"/>
      </p:cViewPr>
      <p:guideLst/>
    </p:cSldViewPr>
  </p:slideViewPr>
  <p:outlineViewPr>
    <p:cViewPr>
      <p:scale>
        <a:sx n="33" d="100"/>
        <a:sy n="33" d="100"/>
      </p:scale>
      <p:origin x="0" y="-1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 Manila" userId="9dfcee945cb88862" providerId="LiveId" clId="{BE9257C6-9F43-4463-B1B2-14225CE01E72}"/>
    <pc:docChg chg="undo custSel addSld delSld modSld sldOrd">
      <pc:chgData name="K Manila" userId="9dfcee945cb88862" providerId="LiveId" clId="{BE9257C6-9F43-4463-B1B2-14225CE01E72}" dt="2026-02-17T16:39:35.243" v="12046" actId="2696"/>
      <pc:docMkLst>
        <pc:docMk/>
      </pc:docMkLst>
      <pc:sldChg chg="del">
        <pc:chgData name="K Manila" userId="9dfcee945cb88862" providerId="LiveId" clId="{BE9257C6-9F43-4463-B1B2-14225CE01E72}" dt="2026-02-17T16:39:35.243" v="12046" actId="2696"/>
        <pc:sldMkLst>
          <pc:docMk/>
          <pc:sldMk cId="0" sldId="261"/>
        </pc:sldMkLst>
      </pc:sldChg>
      <pc:sldChg chg="add del">
        <pc:chgData name="K Manila" userId="9dfcee945cb88862" providerId="LiveId" clId="{BE9257C6-9F43-4463-B1B2-14225CE01E72}" dt="2026-02-17T16:39:17.313" v="12045" actId="2696"/>
        <pc:sldMkLst>
          <pc:docMk/>
          <pc:sldMk cId="646128646" sldId="290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2T07:55:06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472111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40009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87223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89674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14063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28260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DB9A10-FF76-140F-39A6-E21E251642CE}"/>
              </a:ext>
            </a:extLst>
          </p:cNvPr>
          <p:cNvSpPr txBox="1"/>
          <p:nvPr/>
        </p:nvSpPr>
        <p:spPr>
          <a:xfrm>
            <a:off x="4736605" y="3429000"/>
            <a:ext cx="57038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Rounded MT Bold" panose="020F0704030504030204" pitchFamily="34" charset="0"/>
              </a:rPr>
              <a:t>Grocery Store Management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A4E7E15-7CAE-4BCD-25C2-ADC347619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1CE81EE-4E78-578E-2000-44E892ADC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4FC3DFE-64AF-C265-C6D3-F80D0943E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68563"/>
            <a:ext cx="4736605" cy="43147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4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25BCC-ED3B-552D-816E-4AD276E19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354965"/>
            <a:ext cx="4394200" cy="975995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C00000"/>
                </a:solidFill>
              </a:rPr>
              <a:t>Objective of the Project</a:t>
            </a:r>
            <a:br>
              <a:rPr lang="en-IN" sz="3200" dirty="0">
                <a:solidFill>
                  <a:srgbClr val="C00000"/>
                </a:solidFill>
              </a:rPr>
            </a:br>
            <a:endParaRPr lang="en-IN" sz="3200" dirty="0">
              <a:solidFill>
                <a:srgbClr val="C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C048E0-B7D9-49BA-B57B-53E1A7374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8399" y="1156723"/>
            <a:ext cx="10515600" cy="4450257"/>
          </a:xfrm>
          <a:ln w="19050">
            <a:solidFill>
              <a:schemeClr val="accent5">
                <a:lumMod val="50000"/>
              </a:schemeClr>
            </a:solidFill>
          </a:ln>
        </p:spPr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endParaRPr lang="en-US" b="1" dirty="0"/>
          </a:p>
          <a:p>
            <a:pPr fontAlgn="base"/>
            <a:r>
              <a:rPr lang="en-US" dirty="0"/>
              <a:t>To design and implement a relational database for a grocery store.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fontAlgn="base"/>
            <a:r>
              <a:rPr lang="en-US" dirty="0"/>
              <a:t>To retrieve and manipulate data using SQL queries.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fontAlgn="base"/>
            <a:r>
              <a:rPr lang="en-US" dirty="0"/>
              <a:t>To perform data analysis for business insights such as top customers, best-selling products, and revenue trends.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To practice using joins, aggregations, subqueries, and filtering techniques</a:t>
            </a:r>
            <a:r>
              <a:rPr lang="en-US" b="1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9226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89D3E-09C2-7845-3945-247E81BCB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455" y="96164"/>
            <a:ext cx="2016760" cy="772795"/>
          </a:xfrm>
        </p:spPr>
        <p:txBody>
          <a:bodyPr>
            <a:normAutofit/>
          </a:bodyPr>
          <a:lstStyle/>
          <a:p>
            <a:r>
              <a:rPr lang="en-IN" b="1" u="sng" dirty="0">
                <a:solidFill>
                  <a:srgbClr val="C00000"/>
                </a:solidFill>
              </a:rPr>
              <a:t>Tables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918B14-51B7-1323-1151-F3EF06625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45" y="667957"/>
            <a:ext cx="2339857" cy="13008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80510B-DBF9-94B3-7F1C-D9C9633B94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1439"/>
          <a:stretch>
            <a:fillRect/>
          </a:stretch>
        </p:blipFill>
        <p:spPr>
          <a:xfrm>
            <a:off x="4762915" y="1502764"/>
            <a:ext cx="3698240" cy="20848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2AE194-2494-7C73-9031-9D44837A4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2745" y="877557"/>
            <a:ext cx="2857899" cy="24482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Picture 9" descr="A screenshot of a table&#10;&#10;AI-generated content may be incorrect.">
            <a:extLst>
              <a:ext uri="{FF2B5EF4-FFF2-40B4-BE49-F238E27FC236}">
                <a16:creationId xmlns:a16="http://schemas.microsoft.com/office/drawing/2014/main" id="{9526EA29-297B-0037-ABF3-ACFAA75BA1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383" y="4213673"/>
            <a:ext cx="4048129" cy="23148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FAFAED-7DE1-C98A-A5CE-AE0C8AB447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8185" y="4195012"/>
            <a:ext cx="3029373" cy="23148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41BA8C-6CF6-A4CE-0A33-409009AA47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966450"/>
            <a:ext cx="3804566" cy="21451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E95D20-019E-4459-1382-55119D0FCA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297" y="2520050"/>
            <a:ext cx="3716687" cy="12761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2372AE-67C5-20E7-3799-179F567401D5}"/>
              </a:ext>
            </a:extLst>
          </p:cNvPr>
          <p:cNvSpPr txBox="1"/>
          <p:nvPr/>
        </p:nvSpPr>
        <p:spPr>
          <a:xfrm>
            <a:off x="719180" y="334928"/>
            <a:ext cx="25167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2">
                    <a:lumMod val="25000"/>
                  </a:schemeClr>
                </a:solidFill>
                <a:latin typeface="Arial Rounded MT Bold" panose="020F0704030504030204" pitchFamily="34" charset="0"/>
              </a:rPr>
              <a:t>Categories Table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C03246-DB04-BCCC-A17A-9BDD2BF06578}"/>
              </a:ext>
            </a:extLst>
          </p:cNvPr>
          <p:cNvSpPr txBox="1"/>
          <p:nvPr/>
        </p:nvSpPr>
        <p:spPr>
          <a:xfrm>
            <a:off x="363894" y="3965510"/>
            <a:ext cx="3433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2">
                    <a:lumMod val="25000"/>
                  </a:schemeClr>
                </a:solidFill>
                <a:latin typeface="Arial Rounded MT Bold" panose="020F0704030504030204" pitchFamily="34" charset="0"/>
              </a:rPr>
              <a:t>            Order details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902E3B-FBB8-C3F9-84FA-036A70F5D245}"/>
              </a:ext>
            </a:extLst>
          </p:cNvPr>
          <p:cNvSpPr txBox="1"/>
          <p:nvPr/>
        </p:nvSpPr>
        <p:spPr>
          <a:xfrm>
            <a:off x="-419877" y="2164702"/>
            <a:ext cx="41987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Suppliers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01EE59-82F3-F5B7-B9D0-AECC24FFE541}"/>
              </a:ext>
            </a:extLst>
          </p:cNvPr>
          <p:cNvSpPr txBox="1"/>
          <p:nvPr/>
        </p:nvSpPr>
        <p:spPr>
          <a:xfrm>
            <a:off x="5598367" y="1166327"/>
            <a:ext cx="1672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tx2">
                    <a:lumMod val="25000"/>
                  </a:schemeClr>
                </a:solidFill>
                <a:latin typeface="Arial Rounded MT Bold" panose="020F0704030504030204" pitchFamily="34" charset="0"/>
              </a:rPr>
              <a:t>Customers Table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D053DF-5A19-B868-728D-DB51A8E5E3BF}"/>
              </a:ext>
            </a:extLst>
          </p:cNvPr>
          <p:cNvSpPr txBox="1"/>
          <p:nvPr/>
        </p:nvSpPr>
        <p:spPr>
          <a:xfrm>
            <a:off x="4994962" y="3900197"/>
            <a:ext cx="13340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tx2">
                    <a:lumMod val="25000"/>
                  </a:schemeClr>
                </a:solidFill>
                <a:latin typeface="Arial Rounded MT Bold" panose="020F0704030504030204" pitchFamily="34" charset="0"/>
              </a:rPr>
              <a:t>Orders Table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ADAA75-5453-434E-E09B-A802CF991191}"/>
              </a:ext>
            </a:extLst>
          </p:cNvPr>
          <p:cNvSpPr txBox="1"/>
          <p:nvPr/>
        </p:nvSpPr>
        <p:spPr>
          <a:xfrm>
            <a:off x="7725747" y="3554963"/>
            <a:ext cx="43573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tx2">
                    <a:lumMod val="25000"/>
                  </a:schemeClr>
                </a:solidFill>
                <a:latin typeface="Arial Rounded MT Bold" panose="020F0704030504030204" pitchFamily="34" charset="0"/>
              </a:rPr>
              <a:t>Products Table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AE6F90-63D6-6138-8A0D-7D3440993DA7}"/>
              </a:ext>
            </a:extLst>
          </p:cNvPr>
          <p:cNvSpPr txBox="1"/>
          <p:nvPr/>
        </p:nvSpPr>
        <p:spPr>
          <a:xfrm>
            <a:off x="8892074" y="503853"/>
            <a:ext cx="2855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tx2">
                    <a:lumMod val="25000"/>
                  </a:schemeClr>
                </a:solidFill>
                <a:latin typeface="Arial Rounded MT Bold" panose="020F0704030504030204" pitchFamily="34" charset="0"/>
              </a:rPr>
              <a:t>Employees</a:t>
            </a:r>
          </a:p>
        </p:txBody>
      </p:sp>
    </p:spTree>
    <p:extLst>
      <p:ext uri="{BB962C8B-B14F-4D97-AF65-F5344CB8AC3E}">
        <p14:creationId xmlns:p14="http://schemas.microsoft.com/office/powerpoint/2010/main" val="651479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A1EC2-1CA6-9E89-19AB-084B28096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12955"/>
            <a:ext cx="6636774" cy="639097"/>
          </a:xfrm>
        </p:spPr>
        <p:txBody>
          <a:bodyPr>
            <a:noAutofit/>
          </a:bodyPr>
          <a:lstStyle/>
          <a:p>
            <a:r>
              <a:rPr lang="en-IN" sz="2400" b="1" dirty="0"/>
              <a:t>• ER Diagram and schema explanation</a:t>
            </a:r>
            <a:br>
              <a:rPr lang="en-IN" sz="2400" dirty="0"/>
            </a:br>
            <a:endParaRPr lang="en-IN" sz="2400" dirty="0"/>
          </a:p>
        </p:txBody>
      </p:sp>
      <p:pic>
        <p:nvPicPr>
          <p:cNvPr id="5" name="Picture 4" descr="A computer screen shot of a computer">
            <a:extLst>
              <a:ext uri="{FF2B5EF4-FFF2-40B4-BE49-F238E27FC236}">
                <a16:creationId xmlns:a16="http://schemas.microsoft.com/office/drawing/2014/main" id="{DFF6C79C-CCB4-5670-334A-A5F056E0AD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36" t="9355" r="7457" b="6234"/>
          <a:stretch>
            <a:fillRect/>
          </a:stretch>
        </p:blipFill>
        <p:spPr>
          <a:xfrm>
            <a:off x="268416" y="1052052"/>
            <a:ext cx="6368357" cy="4835564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6A4048A-BD93-5E30-9355-A2530A1BFA05}"/>
              </a:ext>
            </a:extLst>
          </p:cNvPr>
          <p:cNvSpPr/>
          <p:nvPr/>
        </p:nvSpPr>
        <p:spPr>
          <a:xfrm>
            <a:off x="7492480" y="0"/>
            <a:ext cx="4244489" cy="615820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F6AE68-0C63-A239-843A-3F1744212248}"/>
              </a:ext>
            </a:extLst>
          </p:cNvPr>
          <p:cNvSpPr txBox="1"/>
          <p:nvPr/>
        </p:nvSpPr>
        <p:spPr>
          <a:xfrm>
            <a:off x="7697754" y="392019"/>
            <a:ext cx="31817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u="sng" dirty="0"/>
              <a:t>One-to-many relationships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Supplier to 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Categories to 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Employees to orders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to orders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4DF6E3-26E1-98AB-2B66-4523255F5331}"/>
              </a:ext>
            </a:extLst>
          </p:cNvPr>
          <p:cNvSpPr txBox="1"/>
          <p:nvPr/>
        </p:nvSpPr>
        <p:spPr>
          <a:xfrm>
            <a:off x="7697753" y="2197025"/>
            <a:ext cx="32937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u="sng" dirty="0"/>
              <a:t>Order Connections: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Products to Order details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 to order details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09847F-2673-EC45-203F-6C9F256AF178}"/>
              </a:ext>
            </a:extLst>
          </p:cNvPr>
          <p:cNvSpPr txBox="1"/>
          <p:nvPr/>
        </p:nvSpPr>
        <p:spPr>
          <a:xfrm>
            <a:off x="7697753" y="3337859"/>
            <a:ext cx="30324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u="sng" dirty="0"/>
              <a:t>Employees &amp; Customers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Employees to orders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 to Customers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6BDD4A-797B-34E2-3130-D17C645BAAE5}"/>
              </a:ext>
            </a:extLst>
          </p:cNvPr>
          <p:cNvSpPr txBox="1"/>
          <p:nvPr/>
        </p:nvSpPr>
        <p:spPr>
          <a:xfrm>
            <a:off x="7832576" y="4478694"/>
            <a:ext cx="356429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200" dirty="0"/>
              <a:t>A customer places an order ,stored in orders.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200" dirty="0"/>
              <a:t>An employee handles  the order.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200" dirty="0"/>
              <a:t>Order contains multiple products. stored in order details.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200" dirty="0"/>
              <a:t>Products are supplies by suppliers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663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74C01-7EAC-89D6-F02B-CE9A3E15F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92" y="244888"/>
            <a:ext cx="3856118" cy="66124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</a:rPr>
              <a:t>Database Structure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89C776F-FBF9-49D7-C679-A4BB22E0B6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844733"/>
              </p:ext>
            </p:extLst>
          </p:nvPr>
        </p:nvGraphicFramePr>
        <p:xfrm>
          <a:off x="703385" y="1687611"/>
          <a:ext cx="8711920" cy="4216962"/>
        </p:xfrm>
        <a:graphic>
          <a:graphicData uri="http://schemas.openxmlformats.org/drawingml/2006/table">
            <a:tbl>
              <a:tblPr/>
              <a:tblGrid>
                <a:gridCol w="1741498">
                  <a:extLst>
                    <a:ext uri="{9D8B030D-6E8A-4147-A177-3AD203B41FA5}">
                      <a16:colId xmlns:a16="http://schemas.microsoft.com/office/drawing/2014/main" val="1159988414"/>
                    </a:ext>
                  </a:extLst>
                </a:gridCol>
                <a:gridCol w="6970422">
                  <a:extLst>
                    <a:ext uri="{9D8B030D-6E8A-4147-A177-3AD203B41FA5}">
                      <a16:colId xmlns:a16="http://schemas.microsoft.com/office/drawing/2014/main" val="1954936580"/>
                    </a:ext>
                  </a:extLst>
                </a:gridCol>
              </a:tblGrid>
              <a:tr h="54944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200" b="1" i="0" u="none" strike="noStrike">
                          <a:solidFill>
                            <a:srgbClr val="073763"/>
                          </a:solidFill>
                          <a:effectLst/>
                          <a:latin typeface="Arial" panose="020B0604020202020204" pitchFamily="34" charset="0"/>
                        </a:rPr>
                        <a:t>Table Name</a:t>
                      </a:r>
                      <a:endParaRPr lang="en-IN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73763"/>
                          </a:solidFill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  <a:endParaRPr lang="en-IN" dirty="0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456680"/>
                  </a:ext>
                </a:extLst>
              </a:tr>
              <a:tr h="54944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supplier</a:t>
                      </a:r>
                      <a:endParaRPr lang="en-IN" sz="1600" b="0" dirty="0"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Stores information about the suppliers who provide products.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6801925"/>
                  </a:ext>
                </a:extLst>
              </a:tr>
              <a:tr h="54944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categories</a:t>
                      </a:r>
                      <a:endParaRPr lang="en-IN" sz="1600" b="0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Contains the different product categories (e.g., Beverages, Snacks).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8001089"/>
                  </a:ext>
                </a:extLst>
              </a:tr>
              <a:tr h="54944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employees</a:t>
                      </a:r>
                      <a:endParaRPr lang="en-IN" sz="1600" b="0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Records employees responsible for handling customer orders.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5017133"/>
                  </a:ext>
                </a:extLst>
              </a:tr>
              <a:tr h="54944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customers</a:t>
                      </a:r>
                      <a:endParaRPr lang="en-IN" sz="1600" b="0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Contains customer details who place orders.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427885"/>
                  </a:ext>
                </a:extLst>
              </a:tr>
              <a:tr h="54944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products</a:t>
                      </a:r>
                      <a:endParaRPr lang="en-IN" sz="1600" b="0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Holds product information, including price, supplier, and category.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398523"/>
                  </a:ext>
                </a:extLst>
              </a:tr>
              <a:tr h="36464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orders</a:t>
                      </a:r>
                      <a:endParaRPr lang="en-IN" sz="1600" b="0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Logs customer orders handled by employees.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439761"/>
                  </a:ext>
                </a:extLst>
              </a:tr>
              <a:tr h="54944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Order</a:t>
                      </a: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details</a:t>
                      </a:r>
                      <a:endParaRPr lang="en-IN" sz="1600" b="0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Stores line items for each order, including product quantity and pricing.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904117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CC3F8F3D-87FC-917F-E30E-67E326EE4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992" y="1072057"/>
            <a:ext cx="3090911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Rounded MT Bold" panose="020F0704030504030204" pitchFamily="34" charset="0"/>
                <a:cs typeface="Arial" panose="020B0604020202020204" pitchFamily="34" charset="0"/>
              </a:rPr>
              <a:t> </a:t>
            </a:r>
            <a:r>
              <a:rPr lang="en-US" altLang="en-US" sz="1600" dirty="0">
                <a:latin typeface="Arial Rounded MT Bold" panose="020F0704030504030204" pitchFamily="34" charset="0"/>
                <a:cs typeface="Arial" panose="020B0604020202020204" pitchFamily="34" charset="0"/>
              </a:rPr>
              <a:t>Seven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Rounded MT Bold" panose="020F0704030504030204" pitchFamily="34" charset="0"/>
                <a:cs typeface="Arial" panose="020B0604020202020204" pitchFamily="34" charset="0"/>
              </a:rPr>
              <a:t> interrelated tables: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Rounded MT Bold" panose="020F07040305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130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3CD5F-30E6-1A37-BB91-F193B0C47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52" y="0"/>
            <a:ext cx="5385318" cy="1212980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rial Rounded MT Bold" panose="020F0704030504030204" pitchFamily="34" charset="0"/>
              </a:rPr>
              <a:t>Key analysis questions</a:t>
            </a:r>
            <a:br>
              <a:rPr lang="en-US" sz="3200" dirty="0">
                <a:solidFill>
                  <a:srgbClr val="C00000"/>
                </a:solidFill>
                <a:latin typeface="Arial Rounded MT Bold" panose="020F0704030504030204" pitchFamily="34" charset="0"/>
              </a:rPr>
            </a:br>
            <a:endParaRPr lang="en-IN" sz="3200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9FE012-5945-10F7-7C22-170817A0D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421" y="864572"/>
            <a:ext cx="10515600" cy="4351338"/>
          </a:xfrm>
        </p:spPr>
        <p:txBody>
          <a:bodyPr>
            <a:normAutofit/>
          </a:bodyPr>
          <a:lstStyle/>
          <a:p>
            <a:r>
              <a:rPr lang="en-US" sz="1400" b="1" dirty="0"/>
              <a:t>1️. Customer Insights</a:t>
            </a:r>
          </a:p>
          <a:p>
            <a:pPr fontAlgn="base"/>
            <a:r>
              <a:rPr lang="en-US" sz="1400" dirty="0"/>
              <a:t>How many unique customers have placed orders?</a:t>
            </a:r>
          </a:p>
          <a:p>
            <a:pPr fontAlgn="base"/>
            <a:r>
              <a:rPr lang="en-US" sz="1400" dirty="0"/>
              <a:t>Which customers have placed the highest number of orders?</a:t>
            </a:r>
          </a:p>
          <a:p>
            <a:pPr fontAlgn="base"/>
            <a:r>
              <a:rPr lang="en-US" sz="1400" dirty="0"/>
              <a:t>What is the total and average purchase value per customer?</a:t>
            </a:r>
          </a:p>
          <a:p>
            <a:pPr fontAlgn="base"/>
            <a:r>
              <a:rPr lang="en-US" sz="1400" dirty="0"/>
              <a:t>Who are the top 5 customers by total purchase amount?</a:t>
            </a:r>
            <a:endParaRPr lang="en-US" sz="1400" b="1" dirty="0"/>
          </a:p>
          <a:p>
            <a:r>
              <a:rPr lang="en-US" sz="1400" b="1" dirty="0"/>
              <a:t>2. Product Performance</a:t>
            </a:r>
          </a:p>
          <a:p>
            <a:pPr fontAlgn="base"/>
            <a:r>
              <a:rPr lang="en-US" sz="1400" dirty="0"/>
              <a:t>How many products exist in each category?</a:t>
            </a:r>
          </a:p>
          <a:p>
            <a:pPr fontAlgn="base"/>
            <a:r>
              <a:rPr lang="en-US" sz="1400" dirty="0"/>
              <a:t>What is the average price of products by category?</a:t>
            </a:r>
          </a:p>
          <a:p>
            <a:pPr fontAlgn="base"/>
            <a:r>
              <a:rPr lang="en-US" sz="1400" dirty="0"/>
              <a:t>Which products have the highest total sales volume (by quantity)?</a:t>
            </a:r>
          </a:p>
          <a:p>
            <a:pPr fontAlgn="base"/>
            <a:r>
              <a:rPr lang="en-US" sz="1400" dirty="0"/>
              <a:t>What is the total revenue generated by each product?</a:t>
            </a:r>
          </a:p>
          <a:p>
            <a:pPr fontAlgn="base"/>
            <a:r>
              <a:rPr lang="en-US" sz="1400" dirty="0"/>
              <a:t>How do product sales vary by category and supplier?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74B316-6D37-F639-E76C-9F6EE7482ADA}"/>
              </a:ext>
            </a:extLst>
          </p:cNvPr>
          <p:cNvSpPr txBox="1"/>
          <p:nvPr/>
        </p:nvSpPr>
        <p:spPr>
          <a:xfrm>
            <a:off x="208383" y="4469363"/>
            <a:ext cx="557659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Sales and Order Trends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average value per order?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which dates were the most orders placed?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the monthly trends in order volume and revenue?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do order patterns vary across weekdays and weekends?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9EFF1D-BAC6-F2A0-E6E5-358B941C2FE4}"/>
              </a:ext>
            </a:extLst>
          </p:cNvPr>
          <p:cNvSpPr txBox="1"/>
          <p:nvPr/>
        </p:nvSpPr>
        <p:spPr>
          <a:xfrm>
            <a:off x="6077339" y="973364"/>
            <a:ext cx="538641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4️. Supplier Contribution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the most active and profitable suppliers.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many suppliers are there in the database?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supplier provides the most products?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average price of products from each supplier?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suppliers contribute the most to total product sales (by revenue)?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192117-3AD9-C543-3346-D3917B7850AF}"/>
              </a:ext>
            </a:extLst>
          </p:cNvPr>
          <p:cNvSpPr txBox="1"/>
          <p:nvPr/>
        </p:nvSpPr>
        <p:spPr>
          <a:xfrm>
            <a:off x="6086331" y="2820616"/>
            <a:ext cx="476444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5️. Employee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many employees have processed orders?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employees have handled the most orders?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total sales value processed by each employee?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average order value handled per employee?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666F38-FF39-1C96-5D4A-FFB409AE8CA6}"/>
              </a:ext>
            </a:extLst>
          </p:cNvPr>
          <p:cNvSpPr txBox="1"/>
          <p:nvPr/>
        </p:nvSpPr>
        <p:spPr>
          <a:xfrm>
            <a:off x="6066453" y="4415736"/>
            <a:ext cx="512670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6️. Order Details Deep Dive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relationship between quantity ordered and total price?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average quantity ordered per product?</a:t>
            </a:r>
          </a:p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AC8E516F-B220-A989-0ECA-75A26114FC57}"/>
                  </a:ext>
                </a:extLst>
              </p14:cNvPr>
              <p14:cNvContentPartPr/>
              <p14:nvPr/>
            </p14:nvContentPartPr>
            <p14:xfrm>
              <a:off x="6652440" y="2351270"/>
              <a:ext cx="360" cy="36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AC8E516F-B220-A989-0ECA-75A26114FC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46320" y="234515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7300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520EF1-56A5-B923-4B8B-F9DED31DC25C}"/>
              </a:ext>
            </a:extLst>
          </p:cNvPr>
          <p:cNvSpPr txBox="1"/>
          <p:nvPr/>
        </p:nvSpPr>
        <p:spPr>
          <a:xfrm>
            <a:off x="396761" y="696684"/>
            <a:ext cx="11093677" cy="3960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1️. Customer Insights</a:t>
            </a:r>
            <a:endParaRPr lang="en-US" sz="1800" b="1" dirty="0">
              <a:effectLst/>
            </a:endParaRPr>
          </a:p>
          <a:p>
            <a:pPr rtl="0"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i="0" u="none" strike="noStrike" dirty="0">
                <a:solidFill>
                  <a:srgbClr val="000000"/>
                </a:solidFill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many unique customers have placed orders?</a:t>
            </a:r>
            <a:br>
              <a:rPr lang="en-US" sz="1600" i="0" u="none" strike="noStrike" dirty="0">
                <a:solidFill>
                  <a:srgbClr val="000000"/>
                </a:solidFill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600" dirty="0">
              <a:latin typeface="Arial Rounded MT Bold" panose="020F07040305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endParaRPr lang="en-US" sz="1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</a:endParaRPr>
          </a:p>
          <a:p>
            <a:pPr rtl="0" fontAlgn="base"/>
            <a:endParaRPr lang="en-US" dirty="0">
              <a:latin typeface="Arial" panose="020B0604020202020204" pitchFamily="34" charset="0"/>
            </a:endParaRPr>
          </a:p>
          <a:p>
            <a:pPr rtl="0" fontAlgn="base"/>
            <a:endParaRPr lang="en-US" sz="1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i="0" u="none" strike="noStrike" dirty="0">
                <a:solidFill>
                  <a:srgbClr val="000000"/>
                </a:solidFill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customers have placed the highest number of orders?</a:t>
            </a:r>
            <a:br>
              <a:rPr lang="en-US" sz="1600" i="0" u="none" strike="noStrike" dirty="0">
                <a:solidFill>
                  <a:srgbClr val="000000"/>
                </a:solidFill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600" i="0" u="none" strike="noStrike" dirty="0">
                <a:solidFill>
                  <a:srgbClr val="000000"/>
                </a:solidFill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600" i="0" u="none" strike="noStrike" dirty="0">
              <a:solidFill>
                <a:srgbClr val="000000"/>
              </a:solidFill>
              <a:effectLst/>
              <a:latin typeface="Arial Rounded MT Bold" panose="020F07040305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endParaRPr lang="en-US" sz="1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endParaRPr lang="en-US" sz="1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endParaRPr lang="en-US" sz="1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 descr="A computer code with black text&#10;&#10;AI-generated content may be incorrect.">
            <a:extLst>
              <a:ext uri="{FF2B5EF4-FFF2-40B4-BE49-F238E27FC236}">
                <a16:creationId xmlns:a16="http://schemas.microsoft.com/office/drawing/2014/main" id="{9AD71A53-EC10-ECA1-B2F0-1D64143D3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71" y="2896689"/>
            <a:ext cx="4862389" cy="1251788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902BBDA-F472-4E89-986D-9EC0F10A8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2917" y="2534227"/>
            <a:ext cx="2878203" cy="1547712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8CB92D94-5A4A-68FE-8546-807474BC1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161" y="169967"/>
            <a:ext cx="10265229" cy="473353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C00000"/>
                </a:solidFill>
                <a:latin typeface="Arial Rounded MT Bold" panose="020F0704030504030204" pitchFamily="34" charset="0"/>
              </a:rPr>
              <a:t>Queries &amp; summaries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60A385-F6A0-A3E1-AA1E-DD7DD7B966F7}"/>
              </a:ext>
            </a:extLst>
          </p:cNvPr>
          <p:cNvSpPr txBox="1"/>
          <p:nvPr/>
        </p:nvSpPr>
        <p:spPr>
          <a:xfrm>
            <a:off x="416560" y="4358640"/>
            <a:ext cx="10281920" cy="19389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rial Rounded MT Bold" panose="020F0704030504030204" pitchFamily="34" charset="0"/>
              </a:rPr>
              <a:t>Summary 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Arial Rounded MT Bold" panose="020F0704030504030204" pitchFamily="34" charset="0"/>
              </a:rPr>
              <a:t>  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The first query shows that there are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156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unique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who placed orders.</a:t>
            </a:r>
            <a:endParaRPr lang="en-IN" sz="2000" dirty="0">
              <a:latin typeface="Arial Rounded MT Bold" panose="020F07040305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Arial Rounded MT Bold" panose="020F0704030504030204" pitchFamily="34" charset="0"/>
              </a:rPr>
              <a:t>       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query shows the customers have placed  highest number of orders  by joining orders and customers  table. 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by using aggregated function   to calculate total orders per customer ,and  sorted in order by the highest orders 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output  in descending order.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 the total customers,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Jyotika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Aditi Rao 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placed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highest number of orders.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600" dirty="0">
              <a:latin typeface="Arial Rounded MT Bold" panose="020F0704030504030204" pitchFamily="34" charset="0"/>
            </a:endParaRPr>
          </a:p>
        </p:txBody>
      </p:sp>
      <p:pic>
        <p:nvPicPr>
          <p:cNvPr id="3" name="Picture 2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5542C64C-D80E-445B-FF1F-EF055CB0B6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617" y="1601506"/>
            <a:ext cx="4458322" cy="781159"/>
          </a:xfrm>
          <a:prstGeom prst="rect">
            <a:avLst/>
          </a:prstGeom>
        </p:spPr>
      </p:pic>
      <p:pic>
        <p:nvPicPr>
          <p:cNvPr id="7" name="Picture 6" descr="A person holding a sign&#10;&#10;AI-generated content may be incorrect.">
            <a:extLst>
              <a:ext uri="{FF2B5EF4-FFF2-40B4-BE49-F238E27FC236}">
                <a16:creationId xmlns:a16="http://schemas.microsoft.com/office/drawing/2014/main" id="{91FD0CC8-127E-73D7-316E-582DEA622C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3034" y="1523949"/>
            <a:ext cx="1810003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697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125B58-87A9-CA19-F2E2-BEDD1E6D4180}"/>
              </a:ext>
            </a:extLst>
          </p:cNvPr>
          <p:cNvSpPr txBox="1"/>
          <p:nvPr/>
        </p:nvSpPr>
        <p:spPr>
          <a:xfrm>
            <a:off x="445537" y="447936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Aft>
                <a:spcPts val="1200"/>
              </a:spcAft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 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are the top 5 customers by total purchase amount?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EF06C6-FE83-E45F-6E89-1DC53037B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40" y="893158"/>
            <a:ext cx="4753638" cy="2343477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1B2978-1745-2FA5-54BD-115B9D22B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971" y="1301902"/>
            <a:ext cx="2924213" cy="20284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CBB6DB-E40F-60B6-75DA-CE0025A1755B}"/>
              </a:ext>
            </a:extLst>
          </p:cNvPr>
          <p:cNvSpPr txBox="1"/>
          <p:nvPr/>
        </p:nvSpPr>
        <p:spPr>
          <a:xfrm>
            <a:off x="624408" y="4462904"/>
            <a:ext cx="8642325" cy="12311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Arial Rounded MT Bold" panose="020F0704030504030204" pitchFamily="34" charset="0"/>
              </a:rPr>
              <a:t>Summary 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Some customers(like Chetan Naidu, Kalyan, and Eshwar Rao) spend significantly more than others.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 Total purchase values vary widely – showing a mix of high- value and low value customers.</a:t>
            </a:r>
          </a:p>
        </p:txBody>
      </p:sp>
      <p:pic>
        <p:nvPicPr>
          <p:cNvPr id="6" name="Picture 5" descr="A group of people with stars&#10;&#10;AI-generated content may be incorrect.">
            <a:extLst>
              <a:ext uri="{FF2B5EF4-FFF2-40B4-BE49-F238E27FC236}">
                <a16:creationId xmlns:a16="http://schemas.microsoft.com/office/drawing/2014/main" id="{465EC940-9A9C-8161-3E16-F827BDB94C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8800" y="0"/>
            <a:ext cx="2743200" cy="229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273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F1D306-4242-7AC4-9716-BDF48A2B8652}"/>
              </a:ext>
            </a:extLst>
          </p:cNvPr>
          <p:cNvSpPr txBox="1"/>
          <p:nvPr/>
        </p:nvSpPr>
        <p:spPr>
          <a:xfrm>
            <a:off x="230932" y="419104"/>
            <a:ext cx="68099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/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 What are the monthly trends in order volume and revenue?</a:t>
            </a:r>
            <a:b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8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 descr="A computer code with black text&#10;&#10;AI-generated content may be incorrect.">
            <a:extLst>
              <a:ext uri="{FF2B5EF4-FFF2-40B4-BE49-F238E27FC236}">
                <a16:creationId xmlns:a16="http://schemas.microsoft.com/office/drawing/2014/main" id="{6187C0ED-D385-AED1-8C2A-BDBEEFFF5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59" y="924574"/>
            <a:ext cx="6401693" cy="2079884"/>
          </a:xfrm>
          <a:prstGeom prst="rect">
            <a:avLst/>
          </a:prstGeom>
        </p:spPr>
      </p:pic>
      <p:pic>
        <p:nvPicPr>
          <p:cNvPr id="5" name="Picture 4" descr="A screenshot of a data&#10;&#10;AI-generated content may be incorrect.">
            <a:extLst>
              <a:ext uri="{FF2B5EF4-FFF2-40B4-BE49-F238E27FC236}">
                <a16:creationId xmlns:a16="http://schemas.microsoft.com/office/drawing/2014/main" id="{78B7342B-EF71-840B-427F-423EF18907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0525" y="664033"/>
            <a:ext cx="2962688" cy="27912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3D32054-CCFF-5322-EA4D-21EDE91D0E1C}"/>
              </a:ext>
            </a:extLst>
          </p:cNvPr>
          <p:cNvSpPr txBox="1"/>
          <p:nvPr/>
        </p:nvSpPr>
        <p:spPr>
          <a:xfrm>
            <a:off x="636813" y="3942449"/>
            <a:ext cx="10948973" cy="21852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Arial Rounded MT Bold" panose="020F0704030504030204" pitchFamily="34" charset="0"/>
              </a:rPr>
              <a:t>Summery :</a:t>
            </a:r>
          </a:p>
          <a:p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monthly trends show that order volume and revenue are highest during 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December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January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February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Both order counts and total revenue peak at the end  and the beginning of the year, indicating strong </a:t>
            </a:r>
          </a:p>
          <a:p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seasonal demand during these months</a:t>
            </a:r>
            <a:r>
              <a:rPr lang="en-IN" dirty="0"/>
              <a:t>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3318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219E6D-8DAF-0B66-39F9-A3079E64261E}"/>
              </a:ext>
            </a:extLst>
          </p:cNvPr>
          <p:cNvSpPr txBox="1"/>
          <p:nvPr/>
        </p:nvSpPr>
        <p:spPr>
          <a:xfrm>
            <a:off x="182880" y="123240"/>
            <a:ext cx="10962640" cy="343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rtl="0">
              <a:spcBef>
                <a:spcPts val="18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Product Performance</a:t>
            </a:r>
            <a:endParaRPr lang="en-US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 fontAlgn="base">
              <a:spcBef>
                <a:spcPts val="1200"/>
              </a:spcBef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 How many products exist in each category?</a:t>
            </a:r>
            <a:br>
              <a:rPr lang="en-US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1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</a:endParaRPr>
          </a:p>
          <a:p>
            <a:pPr rtl="0" fontAlgn="base">
              <a:spcBef>
                <a:spcPts val="1200"/>
              </a:spcBef>
            </a:pPr>
            <a:endParaRPr lang="en-US" sz="1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/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5.  What is the average price of products by category?</a:t>
            </a:r>
            <a:br>
              <a:rPr lang="en-US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6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endParaRPr lang="en-US" sz="1600" b="1" dirty="0">
              <a:latin typeface="Arial" panose="020B0604020202020204" pitchFamily="34" charset="0"/>
            </a:endParaRPr>
          </a:p>
          <a:p>
            <a:pPr rtl="0" fontAlgn="base"/>
            <a:endParaRPr lang="en-US" sz="16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D648583C-C489-162E-F467-8C319FBB6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67" y="973147"/>
            <a:ext cx="5468113" cy="12193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E2543F-F2F0-769D-FE77-D8E226701C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171" y="865780"/>
            <a:ext cx="3858163" cy="1409897"/>
          </a:xfrm>
          <a:prstGeom prst="rect">
            <a:avLst/>
          </a:prstGeom>
        </p:spPr>
      </p:pic>
      <p:pic>
        <p:nvPicPr>
          <p:cNvPr id="12" name="Picture 11" descr="A computer code with black text&#10;&#10;AI-generated content may be incorrect.">
            <a:extLst>
              <a:ext uri="{FF2B5EF4-FFF2-40B4-BE49-F238E27FC236}">
                <a16:creationId xmlns:a16="http://schemas.microsoft.com/office/drawing/2014/main" id="{45C4E171-7E08-38B2-29BD-603D384062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051" y="2887760"/>
            <a:ext cx="5063242" cy="1166080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1E0CC5-CC46-7BD1-8FB0-94C091DEC1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0640" y="2767361"/>
            <a:ext cx="3793397" cy="14480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8C5A4E-2A22-7C64-54BD-E965E5E6556E}"/>
              </a:ext>
            </a:extLst>
          </p:cNvPr>
          <p:cNvSpPr txBox="1"/>
          <p:nvPr/>
        </p:nvSpPr>
        <p:spPr>
          <a:xfrm>
            <a:off x="386081" y="4145280"/>
            <a:ext cx="10840720" cy="21236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 :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Grains &amp; Cereals category contains the highest number of products, followed by snacks &amp; Confectioneries.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Household and Personal Care have comparatively fewer products in their categories 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terms of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Pricing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Dairy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products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have the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price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while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Snacks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confectioneries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show the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lowest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</a:t>
            </a: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Price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This indicates that Dairy products are generally more expensive, whereas snacks&amp; confectioneries are the most budget friendly category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4088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2D69C9-E849-6526-2138-F54C9028B2F8}"/>
              </a:ext>
            </a:extLst>
          </p:cNvPr>
          <p:cNvSpPr txBox="1"/>
          <p:nvPr/>
        </p:nvSpPr>
        <p:spPr>
          <a:xfrm>
            <a:off x="370892" y="382622"/>
            <a:ext cx="73641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Aft>
                <a:spcPts val="1200"/>
              </a:spcAft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 How do order patterns vary across weekdays and weekends?</a:t>
            </a:r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8AD3660-E323-8E24-95EE-DDE9D92F4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076" y="898647"/>
            <a:ext cx="5058481" cy="2896004"/>
          </a:xfrm>
          <a:prstGeom prst="rect">
            <a:avLst/>
          </a:prstGeom>
        </p:spPr>
      </p:pic>
      <p:pic>
        <p:nvPicPr>
          <p:cNvPr id="7" name="Picture 6" descr="A screenshot of a data&#10;&#10;AI-generated content may be incorrect.">
            <a:extLst>
              <a:ext uri="{FF2B5EF4-FFF2-40B4-BE49-F238E27FC236}">
                <a16:creationId xmlns:a16="http://schemas.microsoft.com/office/drawing/2014/main" id="{1424EE6E-F261-2CDE-5176-17A313583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353" y="898646"/>
            <a:ext cx="2589491" cy="25303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2D0956-7546-A357-8C41-BE5A24BDEFC2}"/>
              </a:ext>
            </a:extLst>
          </p:cNvPr>
          <p:cNvSpPr txBox="1"/>
          <p:nvPr/>
        </p:nvSpPr>
        <p:spPr>
          <a:xfrm>
            <a:off x="525624" y="4161660"/>
            <a:ext cx="10148932" cy="1508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sz="2000" dirty="0"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 :</a:t>
            </a:r>
          </a:p>
          <a:p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The data shows that order volume vary across  week, 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Monday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Friday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have the 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</a:p>
          <a:p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And ,while 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Tuesday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sees the 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lowest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Weekends also remain strong  with  both 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Saturday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and 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Sunday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Showing 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activity.</a:t>
            </a:r>
          </a:p>
        </p:txBody>
      </p:sp>
    </p:spTree>
    <p:extLst>
      <p:ext uri="{BB962C8B-B14F-4D97-AF65-F5344CB8AC3E}">
        <p14:creationId xmlns:p14="http://schemas.microsoft.com/office/powerpoint/2010/main" val="1047500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AA24CA-D2D5-975C-7305-0A6C23A4F305}"/>
              </a:ext>
            </a:extLst>
          </p:cNvPr>
          <p:cNvSpPr txBox="1"/>
          <p:nvPr/>
        </p:nvSpPr>
        <p:spPr>
          <a:xfrm>
            <a:off x="217454" y="502775"/>
            <a:ext cx="79053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Aft>
                <a:spcPts val="1200"/>
              </a:spcAft>
            </a:pPr>
            <a:r>
              <a:rPr lang="en-US" b="1" dirty="0">
                <a:latin typeface="Arial" panose="020B0604020202020204" pitchFamily="34" charset="0"/>
              </a:rPr>
              <a:t>7.  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Which suppliers contribute the most to total product sales (by revenue)?</a:t>
            </a:r>
          </a:p>
        </p:txBody>
      </p:sp>
      <p:pic>
        <p:nvPicPr>
          <p:cNvPr id="7" name="Picture 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6F8AC761-D4C8-FDBC-4D39-553C86E2B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46630"/>
            <a:ext cx="5308784" cy="1293382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F1998F-90BA-F724-D7A4-5850CDA36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547" y="508000"/>
            <a:ext cx="2896004" cy="17947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8B2188-F941-661C-0ECC-100536BD88D2}"/>
              </a:ext>
            </a:extLst>
          </p:cNvPr>
          <p:cNvSpPr txBox="1"/>
          <p:nvPr/>
        </p:nvSpPr>
        <p:spPr>
          <a:xfrm>
            <a:off x="207818" y="2327563"/>
            <a:ext cx="4238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supplier provides the most products?</a:t>
            </a:r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29B5CAAA-F584-2CCE-588B-DFFA343F27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819" y="2661920"/>
            <a:ext cx="4228064" cy="1269410"/>
          </a:xfrm>
          <a:prstGeom prst="rect">
            <a:avLst/>
          </a:prstGeom>
        </p:spPr>
      </p:pic>
      <p:pic>
        <p:nvPicPr>
          <p:cNvPr id="8" name="Picture 7" descr="A close up of a name&#10;&#10;AI-generated content may be incorrect.">
            <a:extLst>
              <a:ext uri="{FF2B5EF4-FFF2-40B4-BE49-F238E27FC236}">
                <a16:creationId xmlns:a16="http://schemas.microsoft.com/office/drawing/2014/main" id="{E11B6776-0C5F-4D76-DA32-2F83B6367C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4020" y="2616103"/>
            <a:ext cx="3092059" cy="8687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E8803B3-BFB5-0842-F263-00F22FE4F1C4}"/>
              </a:ext>
            </a:extLst>
          </p:cNvPr>
          <p:cNvSpPr txBox="1"/>
          <p:nvPr/>
        </p:nvSpPr>
        <p:spPr>
          <a:xfrm>
            <a:off x="721360" y="4013200"/>
            <a:ext cx="9906000" cy="22357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Arial Rounded MT Bold" panose="020F0704030504030204" pitchFamily="34" charset="0"/>
              </a:rPr>
              <a:t>Summary 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Query shows Total revenue generated by the  each supplier.it  does by the joining the suppliers, products and order details 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tables. The results are grouped by supplier and sorted in descending order of revenue.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The query  counts how many products each supplier offers. It joins the suppliers and products tables , groups by supplier,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and orders them based on the number of products supplied.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Supplier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Aarya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leading supplier both in terms of 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total revenue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products supplied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2E0ED5-C92D-D218-51EA-395058299F78}"/>
              </a:ext>
            </a:extLst>
          </p:cNvPr>
          <p:cNvSpPr txBox="1"/>
          <p:nvPr/>
        </p:nvSpPr>
        <p:spPr>
          <a:xfrm>
            <a:off x="172720" y="81280"/>
            <a:ext cx="26404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spcBef>
                <a:spcPts val="18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</a:rPr>
              <a:t> Supplier Contribution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095943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mputer code with black text&#10;&#10;AI-generated content may be incorrect.">
            <a:extLst>
              <a:ext uri="{FF2B5EF4-FFF2-40B4-BE49-F238E27FC236}">
                <a16:creationId xmlns:a16="http://schemas.microsoft.com/office/drawing/2014/main" id="{4C7D0A3D-0429-8578-13DD-8B73FD05B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06" y="1011785"/>
            <a:ext cx="5115639" cy="14194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EE304E-BDD2-93E9-E0F7-4D5682D98473}"/>
              </a:ext>
            </a:extLst>
          </p:cNvPr>
          <p:cNvSpPr txBox="1"/>
          <p:nvPr/>
        </p:nvSpPr>
        <p:spPr>
          <a:xfrm>
            <a:off x="489403" y="429275"/>
            <a:ext cx="6097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Aft>
                <a:spcPts val="1200"/>
              </a:spcAft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8. What is the average order value handled per employee?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F28828-A7FD-605D-5C53-5237D292D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440" y="429274"/>
            <a:ext cx="3556000" cy="28016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3A7284-9E5F-FD58-5C56-DD9741158A1F}"/>
              </a:ext>
            </a:extLst>
          </p:cNvPr>
          <p:cNvSpPr txBox="1"/>
          <p:nvPr/>
        </p:nvSpPr>
        <p:spPr>
          <a:xfrm>
            <a:off x="561109" y="3584864"/>
            <a:ext cx="11282256" cy="22467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sz="2000" dirty="0">
                <a:latin typeface="Arial Rounded MT Bold" panose="020F0704030504030204" pitchFamily="34" charset="0"/>
              </a:rPr>
              <a:t>Summary :</a:t>
            </a:r>
          </a:p>
          <a:p>
            <a:endParaRPr lang="en-IN" sz="2000" dirty="0">
              <a:latin typeface="Arial Rounded MT Bold" panose="020F0704030504030204" pitchFamily="34" charset="0"/>
            </a:endParaRP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The query shows the  Average sale generated by the order value handled per employee  by joining the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employees, Orders and order details table .The results  are  grouped by employee ID and employee name 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sorted in  order by average sales.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574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4B90A8-826D-63D4-204E-91365D3EB2D4}"/>
              </a:ext>
            </a:extLst>
          </p:cNvPr>
          <p:cNvSpPr txBox="1"/>
          <p:nvPr/>
        </p:nvSpPr>
        <p:spPr>
          <a:xfrm>
            <a:off x="398884" y="408095"/>
            <a:ext cx="88010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/>
            <a:endParaRPr lang="en-US" sz="16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fontAlgn="base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9. Which employees have handled the most orders?</a:t>
            </a:r>
            <a:b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endParaRPr lang="en-US" sz="1600" b="1" dirty="0">
              <a:latin typeface="Arial" panose="020B0604020202020204" pitchFamily="34" charset="0"/>
            </a:endParaRPr>
          </a:p>
          <a:p>
            <a:pPr rtl="0" fontAlgn="base"/>
            <a:endParaRPr lang="en-US" sz="16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4E9CEA-8B29-F406-9675-602CDA559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120" y="688256"/>
            <a:ext cx="3646781" cy="2634064"/>
          </a:xfrm>
          <a:prstGeom prst="rect">
            <a:avLst/>
          </a:prstGeom>
        </p:spPr>
      </p:pic>
      <p:pic>
        <p:nvPicPr>
          <p:cNvPr id="14" name="Picture 13" descr="A computer code with black text&#10;&#10;AI-generated content may be incorrect.">
            <a:extLst>
              <a:ext uri="{FF2B5EF4-FFF2-40B4-BE49-F238E27FC236}">
                <a16:creationId xmlns:a16="http://schemas.microsoft.com/office/drawing/2014/main" id="{0975A2BE-4A6D-23AB-3C3C-E360A05BB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604" y="1187357"/>
            <a:ext cx="5620534" cy="13336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F0B0A8-781F-DC94-F227-C497D299E0FD}"/>
              </a:ext>
            </a:extLst>
          </p:cNvPr>
          <p:cNvSpPr txBox="1"/>
          <p:nvPr/>
        </p:nvSpPr>
        <p:spPr>
          <a:xfrm>
            <a:off x="885371" y="3782420"/>
            <a:ext cx="9106678" cy="12316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Arial Rounded MT Bold" panose="020F0704030504030204" pitchFamily="34" charset="0"/>
              </a:rPr>
              <a:t>Summary :</a:t>
            </a:r>
          </a:p>
          <a:p>
            <a:endParaRPr lang="en-IN" dirty="0"/>
          </a:p>
          <a:p>
            <a:r>
              <a:rPr lang="en-IN" dirty="0"/>
              <a:t>   The query Ranks employees by the number of orders they handled . The results show that </a:t>
            </a:r>
            <a:r>
              <a:rPr lang="en-IN" b="1" dirty="0"/>
              <a:t>Diya</a:t>
            </a:r>
            <a:r>
              <a:rPr lang="en-IN" dirty="0"/>
              <a:t> </a:t>
            </a:r>
            <a:r>
              <a:rPr lang="en-IN" b="1" dirty="0"/>
              <a:t>Sharma</a:t>
            </a:r>
            <a:r>
              <a:rPr lang="en-IN" dirty="0"/>
              <a:t>       Processes the more orders,  Followed closely by </a:t>
            </a:r>
            <a:r>
              <a:rPr lang="en-IN" b="1" dirty="0"/>
              <a:t>Aditya</a:t>
            </a:r>
            <a:r>
              <a:rPr lang="en-IN" dirty="0"/>
              <a:t> </a:t>
            </a:r>
            <a:r>
              <a:rPr lang="en-IN" b="1" dirty="0"/>
              <a:t>Singh</a:t>
            </a:r>
            <a:r>
              <a:rPr lang="en-IN" dirty="0"/>
              <a:t> and </a:t>
            </a:r>
            <a:r>
              <a:rPr lang="en-IN" b="1" dirty="0"/>
              <a:t>Arjun</a:t>
            </a:r>
            <a:r>
              <a:rPr lang="en-IN" dirty="0"/>
              <a:t> </a:t>
            </a:r>
            <a:r>
              <a:rPr lang="en-IN" b="1" dirty="0"/>
              <a:t>Kumar</a:t>
            </a:r>
            <a:r>
              <a:rPr lang="en-IN" dirty="0"/>
              <a:t> ,while others handled  moderate volumes.</a:t>
            </a:r>
          </a:p>
        </p:txBody>
      </p:sp>
    </p:spTree>
    <p:extLst>
      <p:ext uri="{BB962C8B-B14F-4D97-AF65-F5344CB8AC3E}">
        <p14:creationId xmlns:p14="http://schemas.microsoft.com/office/powerpoint/2010/main" val="2104009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472141-6495-552B-91CC-62CE760879F3}"/>
              </a:ext>
            </a:extLst>
          </p:cNvPr>
          <p:cNvSpPr txBox="1"/>
          <p:nvPr/>
        </p:nvSpPr>
        <p:spPr>
          <a:xfrm>
            <a:off x="332404" y="725094"/>
            <a:ext cx="89597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1200"/>
              </a:spcBef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10. What is the relationship between quantity ordered and total price?</a:t>
            </a:r>
            <a:b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b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US" sz="16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1600" b="1" dirty="0">
              <a:latin typeface="Arial" panose="020B0604020202020204" pitchFamily="34" charset="0"/>
            </a:endParaRPr>
          </a:p>
          <a:p>
            <a:pPr rtl="0" fontAlgn="base">
              <a:spcBef>
                <a:spcPts val="1200"/>
              </a:spcBef>
            </a:pPr>
            <a:endParaRPr lang="en-US" sz="16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/>
            <a:endParaRPr lang="en-US" sz="16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endParaRPr lang="en-US" sz="1600" b="1" dirty="0"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endParaRPr lang="en-US" sz="16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/>
            <a:endParaRPr lang="en-US" sz="1600" b="1" dirty="0">
              <a:latin typeface="Arial" panose="020B0604020202020204" pitchFamily="34" charset="0"/>
            </a:endParaRPr>
          </a:p>
          <a:p>
            <a:pPr rtl="0" fontAlgn="base"/>
            <a:endParaRPr lang="en-US" sz="160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8EB0C7-AE62-2F42-3865-0A75F39D0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21" y="1620465"/>
            <a:ext cx="6973273" cy="1136706"/>
          </a:xfrm>
          <a:prstGeom prst="rect">
            <a:avLst/>
          </a:prstGeom>
        </p:spPr>
      </p:pic>
      <p:pic>
        <p:nvPicPr>
          <p:cNvPr id="8" name="Picture 7" descr="A screenshot of a data&#10;&#10;AI-generated content may be incorrect.">
            <a:extLst>
              <a:ext uri="{FF2B5EF4-FFF2-40B4-BE49-F238E27FC236}">
                <a16:creationId xmlns:a16="http://schemas.microsoft.com/office/drawing/2014/main" id="{C24D5144-A6EC-5654-EE0B-511578FC9F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7240"/>
          <a:stretch>
            <a:fillRect/>
          </a:stretch>
        </p:blipFill>
        <p:spPr>
          <a:xfrm>
            <a:off x="7673160" y="1235705"/>
            <a:ext cx="3973776" cy="19991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8A2A2BC-7C24-C8F9-9D37-A0E63B3E6DDD}"/>
              </a:ext>
            </a:extLst>
          </p:cNvPr>
          <p:cNvSpPr txBox="1"/>
          <p:nvPr/>
        </p:nvSpPr>
        <p:spPr>
          <a:xfrm>
            <a:off x="1102178" y="4163786"/>
            <a:ext cx="9478735" cy="1569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US" sz="1800" dirty="0">
                <a:latin typeface="Arial Rounded MT Bold" panose="020F0704030504030204" pitchFamily="34" charset="0"/>
              </a:rPr>
              <a:t>Summary :</a:t>
            </a:r>
          </a:p>
          <a:p>
            <a:pPr fontAlgn="base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</a:t>
            </a:r>
          </a:p>
          <a:p>
            <a:pPr fontAlgn="base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 query shows that the relationship between the quantity and total price ,by joining the products and                          order details tables. </a:t>
            </a: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relationship is directly proportional. If quantity doubles total price also  doubles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6704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5AEEC-F8F1-E22E-EAA6-F1EB09A3F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970" y="207280"/>
            <a:ext cx="8128518" cy="885177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Arial Rounded MT Bold" panose="020F0704030504030204" pitchFamily="34" charset="0"/>
              </a:rPr>
              <a:t>Final business insights</a:t>
            </a:r>
            <a:br>
              <a:rPr lang="en-US" sz="3600" dirty="0">
                <a:solidFill>
                  <a:srgbClr val="C00000"/>
                </a:solidFill>
                <a:latin typeface="Arial Rounded MT Bold" panose="020F0704030504030204" pitchFamily="34" charset="0"/>
              </a:rPr>
            </a:br>
            <a:endParaRPr lang="en-IN" sz="3600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009B7B-66D2-9742-42D7-579E268E6EA8}"/>
              </a:ext>
            </a:extLst>
          </p:cNvPr>
          <p:cNvSpPr txBox="1"/>
          <p:nvPr/>
        </p:nvSpPr>
        <p:spPr>
          <a:xfrm>
            <a:off x="431913" y="1032573"/>
            <a:ext cx="1585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dirty="0">
                <a:latin typeface="Arial Rounded MT Bold" panose="020F0704030504030204" pitchFamily="34" charset="0"/>
              </a:rPr>
              <a:t>1.</a:t>
            </a:r>
            <a:r>
              <a:rPr lang="en-IN" sz="1800" dirty="0">
                <a:latin typeface="Arial Rounded MT Bold" panose="020F0704030504030204" pitchFamily="34" charset="0"/>
              </a:rPr>
              <a:t>customers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5F764F-5DDE-4DDA-A7D2-569DC60DE949}"/>
              </a:ext>
            </a:extLst>
          </p:cNvPr>
          <p:cNvSpPr txBox="1"/>
          <p:nvPr/>
        </p:nvSpPr>
        <p:spPr>
          <a:xfrm>
            <a:off x="402133" y="1491854"/>
            <a:ext cx="5413661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small number of customers contribute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large share of total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customers order frequently but spend less per order.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order value varies a lot between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34A2A3-1EC8-2CD7-9FFD-F08048C87A69}"/>
              </a:ext>
            </a:extLst>
          </p:cNvPr>
          <p:cNvSpPr txBox="1"/>
          <p:nvPr/>
        </p:nvSpPr>
        <p:spPr>
          <a:xfrm>
            <a:off x="365584" y="2772969"/>
            <a:ext cx="25170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Rounded MT Bold" panose="020F0704030504030204" pitchFamily="34" charset="0"/>
              </a:rPr>
              <a:t>2.Product Performance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7427A1-95E8-AD04-0114-5E7C962B690C}"/>
              </a:ext>
            </a:extLst>
          </p:cNvPr>
          <p:cNvSpPr txBox="1"/>
          <p:nvPr/>
        </p:nvSpPr>
        <p:spPr>
          <a:xfrm>
            <a:off x="313486" y="3256121"/>
            <a:ext cx="5338321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performing items and keep only best selling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volume items keep maximum stock.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Certain categories and products dominates Sales.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6DA721-BB05-43EC-999C-D7F173AE9FAD}"/>
              </a:ext>
            </a:extLst>
          </p:cNvPr>
          <p:cNvSpPr txBox="1"/>
          <p:nvPr/>
        </p:nvSpPr>
        <p:spPr>
          <a:xfrm>
            <a:off x="312681" y="4263913"/>
            <a:ext cx="25202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Rounded MT Bold" panose="020F0704030504030204" pitchFamily="34" charset="0"/>
              </a:rPr>
              <a:t>3.Sales &amp; Order Trends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BF99D1-E41D-3F82-0843-A68EA6B5EF45}"/>
              </a:ext>
            </a:extLst>
          </p:cNvPr>
          <p:cNvSpPr txBox="1"/>
          <p:nvPr/>
        </p:nvSpPr>
        <p:spPr>
          <a:xfrm>
            <a:off x="243108" y="4726944"/>
            <a:ext cx="43364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Clear peak sales days and monthly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sales drop in certain months  ,those months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 better marketing or offer.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B48634-FD4D-3675-EBC3-95173F6F9B07}"/>
              </a:ext>
            </a:extLst>
          </p:cNvPr>
          <p:cNvSpPr txBox="1"/>
          <p:nvPr/>
        </p:nvSpPr>
        <p:spPr>
          <a:xfrm>
            <a:off x="7321763" y="1137422"/>
            <a:ext cx="2505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Rounded MT Bold" panose="020F0704030504030204" pitchFamily="34" charset="0"/>
              </a:rPr>
              <a:t>4.Supplier Contribution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7CDA8D-0213-DA17-56EF-1A8672F74217}"/>
              </a:ext>
            </a:extLst>
          </p:cNvPr>
          <p:cNvSpPr txBox="1"/>
          <p:nvPr/>
        </p:nvSpPr>
        <p:spPr>
          <a:xfrm>
            <a:off x="7337786" y="1488207"/>
            <a:ext cx="48542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Few suppliers contributes more 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Pricing and performance vary widely across supplier</a:t>
            </a:r>
            <a:r>
              <a:rPr lang="en-IN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8DAACA-D1D9-B978-4124-756593DF963B}"/>
              </a:ext>
            </a:extLst>
          </p:cNvPr>
          <p:cNvSpPr txBox="1"/>
          <p:nvPr/>
        </p:nvSpPr>
        <p:spPr>
          <a:xfrm>
            <a:off x="7321764" y="2416247"/>
            <a:ext cx="27013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Rounded MT Bold" panose="020F0704030504030204" pitchFamily="34" charset="0"/>
              </a:rPr>
              <a:t>5.Employee Performance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2F564A-A858-32EB-B9C2-1E32431D9110}"/>
              </a:ext>
            </a:extLst>
          </p:cNvPr>
          <p:cNvSpPr txBox="1"/>
          <p:nvPr/>
        </p:nvSpPr>
        <p:spPr>
          <a:xfrm>
            <a:off x="7291946" y="2773812"/>
            <a:ext cx="4493538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Few Employees process more sales ,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order handling is uneven.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Variability suggests training needs</a:t>
            </a:r>
            <a:r>
              <a:rPr lang="en-IN" sz="1600" dirty="0"/>
              <a:t>.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7C914D-1CF8-BE71-2BA1-D9937A1C867C}"/>
              </a:ext>
            </a:extLst>
          </p:cNvPr>
          <p:cNvSpPr txBox="1"/>
          <p:nvPr/>
        </p:nvSpPr>
        <p:spPr>
          <a:xfrm>
            <a:off x="7367603" y="3779029"/>
            <a:ext cx="28616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Rounded MT Bold" panose="020F0704030504030204" pitchFamily="34" charset="0"/>
              </a:rPr>
              <a:t>6.Order Details Deep Drive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7D34C9-194A-5A6D-B32C-74FE27CC7816}"/>
              </a:ext>
            </a:extLst>
          </p:cNvPr>
          <p:cNvSpPr txBox="1"/>
          <p:nvPr/>
        </p:nvSpPr>
        <p:spPr>
          <a:xfrm>
            <a:off x="7331703" y="4167279"/>
            <a:ext cx="45544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linear link between quantity and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Price variations indicates discounts 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updated pricing . </a:t>
            </a:r>
          </a:p>
        </p:txBody>
      </p:sp>
    </p:spTree>
    <p:extLst>
      <p:ext uri="{BB962C8B-B14F-4D97-AF65-F5344CB8AC3E}">
        <p14:creationId xmlns:p14="http://schemas.microsoft.com/office/powerpoint/2010/main" val="287057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5CC4A-BFEC-3062-77DA-220380F0D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355" y="262489"/>
            <a:ext cx="6906208" cy="754548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Final Business Recommendations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91AFF65-89DF-F76B-04CC-84C791606552}"/>
              </a:ext>
            </a:extLst>
          </p:cNvPr>
          <p:cNvSpPr/>
          <p:nvPr/>
        </p:nvSpPr>
        <p:spPr>
          <a:xfrm>
            <a:off x="436983" y="937631"/>
            <a:ext cx="10963469" cy="486124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75AE1F-544C-ABBA-CEFB-657AF24AE645}"/>
              </a:ext>
            </a:extLst>
          </p:cNvPr>
          <p:cNvSpPr txBox="1"/>
          <p:nvPr/>
        </p:nvSpPr>
        <p:spPr>
          <a:xfrm>
            <a:off x="858416" y="1275374"/>
            <a:ext cx="9405258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Introduce loyalty cards or point based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Negotiate better deals for high-volume items and reduce ordering of slow-moving or non-profitable items.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 multiple suppliers to prevent delays.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Place fast-moving items in visible areas.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Keep frequently bought items at the back items increase store walk-through.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trends analyse monthly revenue and order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training on customer services.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1667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6C37E-3727-EDE8-ACF2-EE88D208D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379" y="458431"/>
            <a:ext cx="8081865" cy="791871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Arial Rounded MT Bold" panose="020F0704030504030204" pitchFamily="34" charset="0"/>
              </a:rPr>
              <a:t>Conclusion (Key finding overall) </a:t>
            </a:r>
            <a:br>
              <a:rPr lang="en-IN" sz="3200" dirty="0">
                <a:solidFill>
                  <a:srgbClr val="C00000"/>
                </a:solidFill>
                <a:latin typeface="Arial Rounded MT Bold" panose="020F0704030504030204" pitchFamily="34" charset="0"/>
              </a:rPr>
            </a:br>
            <a:endParaRPr lang="en-IN" sz="3200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322C88-534F-974D-B84C-B075B8D8A0B4}"/>
              </a:ext>
            </a:extLst>
          </p:cNvPr>
          <p:cNvSpPr txBox="1"/>
          <p:nvPr/>
        </p:nvSpPr>
        <p:spPr>
          <a:xfrm>
            <a:off x="643812" y="1343608"/>
            <a:ext cx="990911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Top customers drive most revenue, and certain categories/products consistently outperform others in both sales volume and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Monthly and weekday analysis reveals peak periods (January, February, December, Wednesday, Friday, Weekdays ),</a:t>
            </a:r>
          </a:p>
          <a:p>
            <a:r>
              <a:rPr lang="en-IN" dirty="0"/>
              <a:t>      helping optimise marketing and staffing.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High Performing suppliers and employees are identified, enabling better inventory planning, supplier management, and workforce allocation.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results highlight the top performing products, the most active customer segments, and monthly sales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And some employees handled more orders </a:t>
            </a:r>
            <a:r>
              <a:rPr lang="en-IN"/>
              <a:t>than others , showing </a:t>
            </a:r>
            <a:r>
              <a:rPr lang="en-IN" dirty="0"/>
              <a:t>differences in workload </a:t>
            </a:r>
            <a:r>
              <a:rPr lang="en-IN"/>
              <a:t>and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47397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7815D-EC52-CCE4-E562-E1466F1D7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66546"/>
            <a:ext cx="5422641" cy="1099781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Arial Rounded MT Bold" panose="020F0704030504030204" pitchFamily="34" charset="0"/>
              </a:rPr>
              <a:t>Challenges to Over Come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33F52FE-8990-328A-880F-26B7883EDEDE}"/>
              </a:ext>
            </a:extLst>
          </p:cNvPr>
          <p:cNvSpPr/>
          <p:nvPr/>
        </p:nvSpPr>
        <p:spPr>
          <a:xfrm>
            <a:off x="558281" y="1026367"/>
            <a:ext cx="10274559" cy="302311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base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867218-C6DD-8B87-00F2-E11A38396A5D}"/>
              </a:ext>
            </a:extLst>
          </p:cNvPr>
          <p:cNvSpPr txBox="1"/>
          <p:nvPr/>
        </p:nvSpPr>
        <p:spPr>
          <a:xfrm>
            <a:off x="984379" y="1443912"/>
            <a:ext cx="797767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Understanding table relationships and applying correct joins.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Ensuring data consistency with foreign key constraints.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Handling aggregation across joined tables.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Extracting time-based trends from date (especially if in VARCHAR format).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Vary across the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3769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2607</TotalTime>
  <Words>1568</Words>
  <Application>Microsoft Office PowerPoint</Application>
  <PresentationFormat>Widescreen</PresentationFormat>
  <Paragraphs>241</Paragraphs>
  <Slides>20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Wingdings</vt:lpstr>
      <vt:lpstr>Calibri</vt:lpstr>
      <vt:lpstr>Arial Rounded MT Bold</vt:lpstr>
      <vt:lpstr>Libre Baskerville</vt:lpstr>
      <vt:lpstr>Office Theme</vt:lpstr>
      <vt:lpstr>PowerPoint Presentation</vt:lpstr>
      <vt:lpstr>Objective of the Project </vt:lpstr>
      <vt:lpstr>Tables</vt:lpstr>
      <vt:lpstr>• ER Diagram and schema explanation </vt:lpstr>
      <vt:lpstr>Database Structure</vt:lpstr>
      <vt:lpstr>Key analysis questions </vt:lpstr>
      <vt:lpstr>Queries &amp; summaries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Final business insights </vt:lpstr>
      <vt:lpstr>Final Business Recommendations</vt:lpstr>
      <vt:lpstr>Conclusion (Key finding overall)  </vt:lpstr>
      <vt:lpstr>Challenges to Over Come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K Manila</cp:lastModifiedBy>
  <cp:revision>1</cp:revision>
  <dcterms:created xsi:type="dcterms:W3CDTF">2021-02-16T05:19:01Z</dcterms:created>
  <dcterms:modified xsi:type="dcterms:W3CDTF">2026-02-17T16:39:35Z</dcterms:modified>
</cp:coreProperties>
</file>